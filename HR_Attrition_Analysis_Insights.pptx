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371F"/>
    <a:srgbClr val="C65A2D"/>
    <a:srgbClr val="F4C6AF"/>
    <a:srgbClr val="FB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65A2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1371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D0-4199-AEF8-5C36E78353C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50800" dir="5400000" sx="10000" sy="10000" algn="ctr" rotWithShape="0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Sales Representative</c:v>
                </c:pt>
                <c:pt idx="1">
                  <c:v>Laboratory Technician</c:v>
                </c:pt>
                <c:pt idx="2">
                  <c:v>Human Resources</c:v>
                </c:pt>
                <c:pt idx="3">
                  <c:v>Sales Executive</c:v>
                </c:pt>
                <c:pt idx="4">
                  <c:v>Research Scientist</c:v>
                </c:pt>
                <c:pt idx="5">
                  <c:v>Manufacturing Director</c:v>
                </c:pt>
                <c:pt idx="6">
                  <c:v>Healthcare Representative</c:v>
                </c:pt>
                <c:pt idx="7">
                  <c:v>Manager</c:v>
                </c:pt>
                <c:pt idx="8">
                  <c:v>Research Director</c:v>
                </c:pt>
              </c:strCache>
            </c:strRef>
          </c:cat>
          <c:val>
            <c:numRef>
              <c:f>Sheet1!$B$2:$B$10</c:f>
              <c:numCache>
                <c:formatCode>0.00%</c:formatCode>
                <c:ptCount val="9"/>
                <c:pt idx="0">
                  <c:v>0.39759036144578314</c:v>
                </c:pt>
                <c:pt idx="1">
                  <c:v>0.23938223938223938</c:v>
                </c:pt>
                <c:pt idx="2">
                  <c:v>0.23076923076923078</c:v>
                </c:pt>
                <c:pt idx="3">
                  <c:v>0.17484662576687116</c:v>
                </c:pt>
                <c:pt idx="4">
                  <c:v>0.16095890410958905</c:v>
                </c:pt>
                <c:pt idx="5">
                  <c:v>6.8965517241379309E-2</c:v>
                </c:pt>
                <c:pt idx="6">
                  <c:v>6.8702290076335881E-2</c:v>
                </c:pt>
                <c:pt idx="7">
                  <c:v>4.9019607843137254E-2</c:v>
                </c:pt>
                <c:pt idx="8">
                  <c:v>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D0-4199-AEF8-5C36E78353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34345487"/>
        <c:axId val="634351727"/>
      </c:barChart>
      <c:catAx>
        <c:axId val="634345487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351727"/>
        <c:crosses val="autoZero"/>
        <c:auto val="1"/>
        <c:lblAlgn val="ctr"/>
        <c:lblOffset val="100"/>
        <c:noMultiLvlLbl val="0"/>
      </c:catAx>
      <c:valAx>
        <c:axId val="634351727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634345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65A2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1371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DE2-466E-8E55-818E5742E1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Research &amp; Development</c:v>
                </c:pt>
              </c:strCache>
              <c:extLst/>
            </c:strRef>
          </c:cat>
          <c:val>
            <c:numRef>
              <c:f>Sheet1!$B$2:$B$5</c:f>
              <c:numCache>
                <c:formatCode>0.0%</c:formatCode>
                <c:ptCount val="3"/>
                <c:pt idx="0">
                  <c:v>0.20627802690583</c:v>
                </c:pt>
                <c:pt idx="1">
                  <c:v>0.19047619047618999</c:v>
                </c:pt>
                <c:pt idx="2">
                  <c:v>0.138397502601457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2DE2-466E-8E55-818E5742E1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Research &amp; Development</c:v>
                </c:pt>
              </c:strCache>
              <c:extLst/>
            </c:strRef>
          </c:cat>
          <c:val>
            <c:numRef>
              <c:f>Sheet1!$C$2:$C$5</c:f>
              <c:numCache>
                <c:formatCode>General</c:formatCode>
                <c:ptCount val="3"/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2DE2-466E-8E55-818E5742E1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Research &amp; Development</c:v>
                </c:pt>
              </c:strCache>
              <c:extLst/>
            </c:strRef>
          </c:cat>
          <c:val>
            <c:numRef>
              <c:f>Sheet1!$D$2:$D$5</c:f>
              <c:numCache>
                <c:formatCode>General</c:formatCode>
                <c:ptCount val="3"/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2DE2-466E-8E55-818E5742E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24570447"/>
        <c:axId val="624568367"/>
      </c:barChart>
      <c:catAx>
        <c:axId val="6245704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568367"/>
        <c:crosses val="autoZero"/>
        <c:auto val="1"/>
        <c:lblAlgn val="ctr"/>
        <c:lblOffset val="100"/>
        <c:noMultiLvlLbl val="0"/>
      </c:catAx>
      <c:valAx>
        <c:axId val="624568367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624570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C6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703320" y="0"/>
            <a:ext cx="54864" cy="6858000"/>
          </a:xfrm>
          <a:prstGeom prst="rect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44CC6E-6648-4427-8CC8-E0EB84EDF71B}"/>
              </a:ext>
            </a:extLst>
          </p:cNvPr>
          <p:cNvGrpSpPr/>
          <p:nvPr/>
        </p:nvGrpSpPr>
        <p:grpSpPr>
          <a:xfrm>
            <a:off x="960120" y="654177"/>
            <a:ext cx="1783080" cy="1783080"/>
            <a:chOff x="649224" y="539496"/>
            <a:chExt cx="1783080" cy="1783080"/>
          </a:xfrm>
        </p:grpSpPr>
        <p:sp>
          <p:nvSpPr>
            <p:cNvPr id="4" name="Oval 3"/>
            <p:cNvSpPr/>
            <p:nvPr/>
          </p:nvSpPr>
          <p:spPr>
            <a:xfrm>
              <a:off x="649224" y="539496"/>
              <a:ext cx="1783080" cy="1783080"/>
            </a:xfrm>
            <a:prstGeom prst="ellipse">
              <a:avLst/>
            </a:prstGeom>
            <a:solidFill>
              <a:srgbClr val="FBF6F0"/>
            </a:solidFill>
            <a:ln w="12700">
              <a:solidFill>
                <a:srgbClr val="7137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827A9E5-A85B-4EF8-83CE-7130558610BD}"/>
                </a:ext>
              </a:extLst>
            </p:cNvPr>
            <p:cNvGrpSpPr/>
            <p:nvPr/>
          </p:nvGrpSpPr>
          <p:grpSpPr>
            <a:xfrm>
              <a:off x="1097280" y="1072133"/>
              <a:ext cx="886968" cy="685800"/>
              <a:chOff x="1097280" y="1344168"/>
              <a:chExt cx="886968" cy="6858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1426464" y="1344168"/>
                <a:ext cx="228600" cy="2286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137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1124712" y="1463040"/>
                <a:ext cx="192024" cy="19202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137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1773936" y="1463040"/>
                <a:ext cx="192024" cy="19202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137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1417320" y="1636776"/>
                <a:ext cx="283464" cy="393192"/>
              </a:xfrm>
              <a:prstGeom prst="roundRect">
                <a:avLst/>
              </a:prstGeom>
              <a:solidFill>
                <a:srgbClr val="71371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1097280" y="1709928"/>
                <a:ext cx="228600" cy="310896"/>
              </a:xfrm>
              <a:prstGeom prst="roundRect">
                <a:avLst/>
              </a:prstGeom>
              <a:solidFill>
                <a:srgbClr val="8A48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1755648" y="1709928"/>
                <a:ext cx="228600" cy="310896"/>
              </a:xfrm>
              <a:prstGeom prst="roundRect">
                <a:avLst/>
              </a:prstGeom>
              <a:solidFill>
                <a:srgbClr val="8A48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0" name="TextBox 19"/>
          <p:cNvSpPr txBox="1"/>
          <p:nvPr/>
        </p:nvSpPr>
        <p:spPr>
          <a:xfrm>
            <a:off x="4242816" y="1054511"/>
            <a:ext cx="71323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71371F"/>
                </a:solidFill>
                <a:latin typeface="Calibri"/>
              </a:defRPr>
            </a:pPr>
            <a:r>
              <a:rPr sz="4800" b="1" i="0" dirty="0">
                <a:solidFill>
                  <a:srgbClr val="71371F"/>
                </a:solidFill>
                <a:latin typeface="Calibri"/>
              </a:rPr>
              <a:t>HR Attrition</a:t>
            </a:r>
            <a:r>
              <a:rPr lang="en-US" sz="4800" b="1" i="0" dirty="0">
                <a:solidFill>
                  <a:srgbClr val="71371F"/>
                </a:solidFill>
                <a:latin typeface="Calibri"/>
              </a:rPr>
              <a:t> </a:t>
            </a:r>
            <a:r>
              <a:rPr sz="4800" b="1" i="0" dirty="0">
                <a:solidFill>
                  <a:srgbClr val="71371F"/>
                </a:solidFill>
                <a:latin typeface="Calibri"/>
              </a:rPr>
              <a:t>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2544" y="1802127"/>
            <a:ext cx="1143000" cy="45719"/>
          </a:xfrm>
          <a:prstGeom prst="rect">
            <a:avLst/>
          </a:prstGeom>
          <a:solidFill>
            <a:srgbClr val="E77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52544" y="2314453"/>
            <a:ext cx="7086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2D211B"/>
                </a:solidFill>
                <a:latin typeface="Calibri"/>
              </a:defRPr>
            </a:pPr>
            <a:r>
              <a:rPr sz="2000" b="0" i="0" dirty="0">
                <a:solidFill>
                  <a:srgbClr val="2D211B"/>
                </a:solidFill>
                <a:latin typeface="Calibri"/>
              </a:rPr>
              <a:t>Where exits concentrate</a:t>
            </a:r>
            <a:r>
              <a:rPr lang="en-US" sz="2000" b="0" i="0" dirty="0">
                <a:solidFill>
                  <a:srgbClr val="2D211B"/>
                </a:solidFill>
                <a:latin typeface="Calibri"/>
              </a:rPr>
              <a:t>,</a:t>
            </a:r>
            <a:r>
              <a:rPr sz="2000" b="0" i="0" dirty="0">
                <a:solidFill>
                  <a:srgbClr val="2D211B"/>
                </a:solidFill>
                <a:latin typeface="Calibri"/>
              </a:rPr>
              <a:t> and what the data suggests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2649114"/>
            <a:ext cx="69951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72645C"/>
                </a:solidFill>
                <a:latin typeface="Calibri"/>
              </a:defRPr>
            </a:pPr>
            <a:r>
              <a:rPr sz="1500" b="0" i="0" dirty="0">
                <a:solidFill>
                  <a:srgbClr val="72645C"/>
                </a:solidFill>
                <a:latin typeface="Calibri"/>
              </a:rPr>
              <a:t>A two-page Power BI analysis of 1,470 employee records, exploring differences across job roles, age groups, income bands, overtime and business travel.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003167"/>
            <a:ext cx="21762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8848" y="4122039"/>
            <a:ext cx="190195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71371F"/>
                </a:solidFill>
                <a:latin typeface="Calibri"/>
              </a:defRPr>
            </a:pPr>
            <a:r>
              <a:rPr sz="2500" b="1" i="0">
                <a:solidFill>
                  <a:srgbClr val="71371F"/>
                </a:solidFill>
                <a:latin typeface="Calibri"/>
              </a:rPr>
              <a:t>1,470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542663"/>
            <a:ext cx="1901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40" b="1" i="0">
                <a:solidFill>
                  <a:srgbClr val="72645C"/>
                </a:solidFill>
                <a:latin typeface="Calibri"/>
              </a:defRPr>
            </a:pPr>
            <a:r>
              <a:rPr sz="1100" b="1" i="0" dirty="0">
                <a:solidFill>
                  <a:srgbClr val="72645C"/>
                </a:solidFill>
                <a:latin typeface="Calibri"/>
              </a:rPr>
              <a:t>EMPLOYEES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11696" y="4003167"/>
            <a:ext cx="21762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4122039"/>
            <a:ext cx="190195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71371F"/>
                </a:solidFill>
                <a:latin typeface="Calibri"/>
              </a:defRPr>
            </a:pPr>
            <a:r>
              <a:rPr sz="2500" b="1" i="0">
                <a:solidFill>
                  <a:srgbClr val="71371F"/>
                </a:solidFill>
                <a:latin typeface="Calibri"/>
              </a:rPr>
              <a:t>237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42663"/>
            <a:ext cx="1901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40" b="1" i="0">
                <a:solidFill>
                  <a:srgbClr val="72645C"/>
                </a:solidFill>
                <a:latin typeface="Calibri"/>
              </a:defRPr>
            </a:pPr>
            <a:r>
              <a:rPr sz="1100" b="1" i="0">
                <a:solidFill>
                  <a:srgbClr val="72645C"/>
                </a:solidFill>
                <a:latin typeface="Calibri"/>
              </a:rPr>
              <a:t>EMPLOYEE EXITS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0848" y="4003167"/>
            <a:ext cx="21762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4122039"/>
            <a:ext cx="190195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71371F"/>
                </a:solidFill>
                <a:latin typeface="Calibri"/>
              </a:defRPr>
            </a:pPr>
            <a:r>
              <a:rPr sz="2500" b="1" i="0">
                <a:solidFill>
                  <a:srgbClr val="71371F"/>
                </a:solidFill>
                <a:latin typeface="Calibri"/>
              </a:rPr>
              <a:t>16.1%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4542663"/>
            <a:ext cx="1901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40" b="1" i="0">
                <a:solidFill>
                  <a:srgbClr val="72645C"/>
                </a:solidFill>
                <a:latin typeface="Calibri"/>
              </a:defRPr>
            </a:pPr>
            <a:r>
              <a:rPr sz="1100" b="1" i="0">
                <a:solidFill>
                  <a:srgbClr val="72645C"/>
                </a:solidFill>
                <a:latin typeface="Calibri"/>
              </a:rPr>
              <a:t>ATTRITION RATE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400F0A-9E9F-4C87-9203-4E1FD80F6DDF}"/>
              </a:ext>
            </a:extLst>
          </p:cNvPr>
          <p:cNvSpPr txBox="1"/>
          <p:nvPr/>
        </p:nvSpPr>
        <p:spPr>
          <a:xfrm>
            <a:off x="1110995" y="2628517"/>
            <a:ext cx="1508379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71371F"/>
                </a:solidFill>
                <a:latin typeface="Calibri"/>
              </a:defRPr>
            </a:pPr>
            <a:r>
              <a:rPr lang="en-US" sz="2500" b="1" i="0" dirty="0">
                <a:solidFill>
                  <a:schemeClr val="bg1"/>
                </a:solidFill>
                <a:latin typeface="Calibri"/>
              </a:rPr>
              <a:t>HR ANALYTICS</a:t>
            </a:r>
            <a:endParaRPr sz="25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73B24C-2C48-44CE-A7F0-CE16EEB0784F}"/>
              </a:ext>
            </a:extLst>
          </p:cNvPr>
          <p:cNvSpPr txBox="1"/>
          <p:nvPr/>
        </p:nvSpPr>
        <p:spPr>
          <a:xfrm>
            <a:off x="749808" y="3803112"/>
            <a:ext cx="17830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72645C"/>
                </a:solidFill>
                <a:latin typeface="Calibri"/>
              </a:defRPr>
            </a:pPr>
            <a:r>
              <a:rPr lang="en-US" sz="1300" b="0" i="0" dirty="0">
                <a:solidFill>
                  <a:srgbClr val="F4C6AF"/>
                </a:solidFill>
                <a:latin typeface="Calibri"/>
              </a:rPr>
              <a:t>POWER BI </a:t>
            </a:r>
            <a:endParaRPr lang="en-US" sz="1300" dirty="0">
              <a:solidFill>
                <a:srgbClr val="F4C6AF"/>
              </a:solidFill>
              <a:latin typeface="Calibri"/>
            </a:endParaRPr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72645C"/>
                </a:solidFill>
                <a:latin typeface="Calibri"/>
              </a:defRPr>
            </a:pPr>
            <a:r>
              <a:rPr lang="en-US" sz="1300" b="0" i="0" dirty="0">
                <a:solidFill>
                  <a:srgbClr val="F4C6AF"/>
                </a:solidFill>
                <a:latin typeface="Calibri"/>
              </a:rPr>
              <a:t>MICROSOFT FABRIC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3CC31DB-F1FF-4123-ACE8-2D40DB6FED0D}"/>
              </a:ext>
            </a:extLst>
          </p:cNvPr>
          <p:cNvSpPr/>
          <p:nvPr/>
        </p:nvSpPr>
        <p:spPr>
          <a:xfrm>
            <a:off x="1032510" y="3419621"/>
            <a:ext cx="171069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F952C5-0CF1-45CE-B771-D564FDD615A8}"/>
              </a:ext>
            </a:extLst>
          </p:cNvPr>
          <p:cNvSpPr txBox="1"/>
          <p:nvPr/>
        </p:nvSpPr>
        <p:spPr>
          <a:xfrm>
            <a:off x="262890" y="6494846"/>
            <a:ext cx="1783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72645C"/>
                </a:solidFill>
                <a:latin typeface="Calibri"/>
              </a:defRPr>
            </a:pPr>
            <a:r>
              <a:rPr lang="en-US" sz="1300" b="0" i="0" dirty="0">
                <a:solidFill>
                  <a:srgbClr val="F4C6AF"/>
                </a:solidFill>
                <a:latin typeface="Calibri"/>
              </a:rPr>
              <a:t>PREPARED BY ANKITA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45643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D211B"/>
                </a:solidFill>
                <a:latin typeface="Calibri"/>
              </a:defRPr>
            </a:pPr>
            <a:r>
              <a:rPr sz="3000" b="1" i="0" dirty="0">
                <a:solidFill>
                  <a:srgbClr val="2D211B"/>
                </a:solidFill>
                <a:latin typeface="Calibri"/>
              </a:rPr>
              <a:t>A 16.1% attrition rate hides very different levels of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18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72645C"/>
                </a:solidFill>
                <a:latin typeface="Calibri"/>
              </a:defRPr>
            </a:pPr>
            <a:r>
              <a:rPr sz="1600" b="0" i="0" dirty="0">
                <a:solidFill>
                  <a:srgbClr val="72645C"/>
                </a:solidFill>
                <a:latin typeface="Calibri"/>
              </a:rPr>
              <a:t>The headline number is useful, but the differences between employee groups are more actionable.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29578"/>
            <a:ext cx="1118311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1371F"/>
                </a:solidFill>
                <a:latin typeface="Calibri"/>
              </a:defRPr>
            </a:pPr>
            <a:r>
              <a:rPr sz="900" b="1" i="0">
                <a:solidFill>
                  <a:srgbClr val="71371F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727" y="1567053"/>
            <a:ext cx="2157984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  <a:effectLst>
            <a:glow rad="101600">
              <a:srgbClr val="F4C6AF">
                <a:alpha val="6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457" y="1713357"/>
            <a:ext cx="1883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2645C"/>
                </a:solidFill>
                <a:latin typeface="Calibri"/>
              </a:defRPr>
            </a:pPr>
            <a:r>
              <a:rPr sz="1300" b="1" i="0" dirty="0">
                <a:solidFill>
                  <a:srgbClr val="72645C"/>
                </a:solidFill>
                <a:latin typeface="Calibri"/>
              </a:rPr>
              <a:t>ATTRITION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19" y="1977009"/>
            <a:ext cx="188366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71371F"/>
                </a:solidFill>
                <a:latin typeface="Calibri"/>
              </a:defRPr>
            </a:pPr>
            <a:r>
              <a:rPr sz="2300" b="1" i="0" dirty="0">
                <a:solidFill>
                  <a:srgbClr val="71371F"/>
                </a:solidFill>
                <a:latin typeface="Calibri"/>
              </a:rPr>
              <a:t>16.1%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19" y="2458518"/>
            <a:ext cx="18836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237 of 1,470 employees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7015" y="1567053"/>
            <a:ext cx="2157984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12745" y="1713357"/>
            <a:ext cx="1883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2645C"/>
                </a:solidFill>
                <a:latin typeface="Calibri"/>
              </a:defRPr>
            </a:pPr>
            <a:r>
              <a:rPr sz="1300" b="1" i="0">
                <a:solidFill>
                  <a:srgbClr val="72645C"/>
                </a:solidFill>
                <a:latin typeface="Calibri"/>
              </a:rPr>
              <a:t>EMPLOYEES 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1607" y="1977009"/>
            <a:ext cx="188366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71371F"/>
                </a:solidFill>
                <a:latin typeface="Calibri"/>
              </a:defRPr>
            </a:pPr>
            <a:r>
              <a:rPr sz="2300" b="1" i="0">
                <a:solidFill>
                  <a:srgbClr val="71371F"/>
                </a:solidFill>
                <a:latin typeface="Calibri"/>
              </a:rPr>
              <a:t>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607" y="2458518"/>
            <a:ext cx="18836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72645C"/>
                </a:solidFill>
                <a:latin typeface="Calibri"/>
              </a:defRPr>
            </a:pPr>
            <a:r>
              <a:rPr sz="1100" b="0" i="0">
                <a:solidFill>
                  <a:srgbClr val="72645C"/>
                </a:solidFill>
                <a:latin typeface="Calibri"/>
              </a:rPr>
              <a:t>Exits in the dataset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1303" y="1567053"/>
            <a:ext cx="2157984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7033" y="1713357"/>
            <a:ext cx="1883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2645C"/>
                </a:solidFill>
                <a:latin typeface="Calibri"/>
              </a:defRPr>
            </a:pPr>
            <a:r>
              <a:rPr sz="1300" b="1" i="0">
                <a:solidFill>
                  <a:srgbClr val="72645C"/>
                </a:solidFill>
                <a:latin typeface="Calibri"/>
              </a:rPr>
              <a:t>TOTAL HEADCOUNT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5895" y="1977009"/>
            <a:ext cx="188366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71371F"/>
                </a:solidFill>
                <a:latin typeface="Calibri"/>
              </a:defRPr>
            </a:pPr>
            <a:r>
              <a:rPr sz="2300" b="1" i="0">
                <a:solidFill>
                  <a:srgbClr val="71371F"/>
                </a:solidFill>
                <a:latin typeface="Calibri"/>
              </a:rPr>
              <a:t>1,470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895" y="2458518"/>
            <a:ext cx="18836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72645C"/>
                </a:solidFill>
                <a:latin typeface="Calibri"/>
              </a:defRPr>
            </a:pPr>
            <a:r>
              <a:rPr sz="1100" b="0" i="0">
                <a:solidFill>
                  <a:srgbClr val="72645C"/>
                </a:solidFill>
                <a:latin typeface="Calibri"/>
              </a:rPr>
              <a:t>Employees represented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5591" y="1567053"/>
            <a:ext cx="2157984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21321" y="1713357"/>
            <a:ext cx="1883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2645C"/>
                </a:solidFill>
                <a:latin typeface="Calibri"/>
              </a:defRPr>
            </a:pPr>
            <a:r>
              <a:rPr sz="1300" b="1" i="0">
                <a:solidFill>
                  <a:srgbClr val="72645C"/>
                </a:solidFill>
                <a:latin typeface="Calibri"/>
              </a:rPr>
              <a:t>LEAVERS’ TENURE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0183" y="1977009"/>
            <a:ext cx="188366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71371F"/>
                </a:solidFill>
                <a:latin typeface="Calibri"/>
              </a:defRPr>
            </a:pPr>
            <a:r>
              <a:rPr sz="2000" b="1" i="0">
                <a:solidFill>
                  <a:srgbClr val="71371F"/>
                </a:solidFill>
                <a:latin typeface="Calibri"/>
              </a:rPr>
              <a:t>5.1 years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183" y="2458518"/>
            <a:ext cx="18836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Average years at company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9879" y="1567053"/>
            <a:ext cx="2157984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5609" y="1713357"/>
            <a:ext cx="1883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2645C"/>
                </a:solidFill>
                <a:latin typeface="Calibri"/>
              </a:defRPr>
            </a:pPr>
            <a:r>
              <a:rPr sz="1300" b="1" i="0">
                <a:solidFill>
                  <a:srgbClr val="72645C"/>
                </a:solidFill>
                <a:latin typeface="Calibri"/>
              </a:rPr>
              <a:t>AVERAGE INCOME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4471" y="1977009"/>
            <a:ext cx="188366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71371F"/>
                </a:solidFill>
                <a:latin typeface="Calibri"/>
              </a:defRPr>
            </a:pPr>
            <a:r>
              <a:rPr sz="2300" b="1" i="0">
                <a:solidFill>
                  <a:srgbClr val="71371F"/>
                </a:solidFill>
                <a:latin typeface="Calibri"/>
              </a:rPr>
              <a:t>6,503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4471" y="2458518"/>
            <a:ext cx="18836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Monthly income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2727" y="3084957"/>
            <a:ext cx="11137392" cy="3090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490" y="3350895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71371F"/>
                </a:solidFill>
                <a:latin typeface="Calibri"/>
              </a:defRPr>
            </a:pPr>
            <a:r>
              <a:rPr sz="2000" b="1" i="0" dirty="0">
                <a:solidFill>
                  <a:srgbClr val="71371F"/>
                </a:solidFill>
                <a:latin typeface="Calibri"/>
              </a:rPr>
              <a:t>The clearest signals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490" y="3725799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2645C"/>
                </a:solidFill>
                <a:latin typeface="Calibri"/>
              </a:defRPr>
            </a:pPr>
            <a:r>
              <a:rPr sz="1300" b="0" i="0" dirty="0">
                <a:solidFill>
                  <a:srgbClr val="72645C"/>
                </a:solidFill>
                <a:latin typeface="Calibri"/>
              </a:rPr>
              <a:t>Attrition is not evenly spread across the workforce. Th</a:t>
            </a:r>
            <a:r>
              <a:rPr lang="en-US" sz="1300" b="0" i="0" dirty="0">
                <a:solidFill>
                  <a:srgbClr val="72645C"/>
                </a:solidFill>
                <a:latin typeface="Calibri"/>
              </a:rPr>
              <a:t>e following three segments show highest attrition</a:t>
            </a:r>
            <a:r>
              <a:rPr sz="1300" b="0" i="0" dirty="0">
                <a:solidFill>
                  <a:srgbClr val="72645C"/>
                </a:solidFill>
                <a:latin typeface="Calibri"/>
              </a:rPr>
              <a:t>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8759" y="4246245"/>
            <a:ext cx="3364992" cy="1051560"/>
          </a:xfrm>
          <a:prstGeom prst="roundRect">
            <a:avLst/>
          </a:prstGeom>
          <a:solidFill>
            <a:srgbClr val="F5EEE7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6154" y="4744516"/>
            <a:ext cx="258965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D211B"/>
                </a:solidFill>
                <a:latin typeface="Calibri"/>
              </a:defRPr>
            </a:pPr>
            <a:r>
              <a:rPr lang="en-US" sz="1300" b="1" i="0" dirty="0">
                <a:solidFill>
                  <a:srgbClr val="2D211B"/>
                </a:solidFill>
                <a:latin typeface="Calibri"/>
              </a:rPr>
              <a:t>30.5% </a:t>
            </a:r>
            <a:r>
              <a:rPr sz="1300" b="1" i="0" dirty="0">
                <a:solidFill>
                  <a:srgbClr val="2D211B"/>
                </a:solidFill>
                <a:latin typeface="Calibri"/>
              </a:rPr>
              <a:t>Employees working overtime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6154" y="4956742"/>
            <a:ext cx="1965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vs 10.4% without overtime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9783" y="4246245"/>
            <a:ext cx="3364992" cy="1051560"/>
          </a:xfrm>
          <a:prstGeom prst="roundRect">
            <a:avLst/>
          </a:prstGeom>
          <a:solidFill>
            <a:srgbClr val="F5EEE7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5775" y="4722869"/>
            <a:ext cx="222770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D211B"/>
                </a:solidFill>
                <a:latin typeface="Calibri"/>
              </a:defRPr>
            </a:pPr>
            <a:r>
              <a:rPr lang="en-US" sz="1300" b="1" i="0" dirty="0">
                <a:solidFill>
                  <a:srgbClr val="2D211B"/>
                </a:solidFill>
                <a:latin typeface="Calibri"/>
              </a:rPr>
              <a:t>35.8% </a:t>
            </a:r>
            <a:r>
              <a:rPr lang="en-US" sz="1300" b="1" dirty="0">
                <a:solidFill>
                  <a:srgbClr val="2D211B"/>
                </a:solidFill>
                <a:latin typeface="Calibri"/>
              </a:rPr>
              <a:t>e</a:t>
            </a:r>
            <a:r>
              <a:rPr sz="1300" b="1" i="0" dirty="0">
                <a:solidFill>
                  <a:srgbClr val="2D211B"/>
                </a:solidFill>
                <a:latin typeface="Calibri"/>
              </a:rPr>
              <a:t>mployees aged 18</a:t>
            </a:r>
            <a:r>
              <a:rPr lang="en-US" sz="1300" b="1" i="0" dirty="0">
                <a:solidFill>
                  <a:srgbClr val="2D211B"/>
                </a:solidFill>
                <a:latin typeface="Calibri"/>
              </a:rPr>
              <a:t>-</a:t>
            </a:r>
            <a:r>
              <a:rPr sz="1300" b="1" i="0" dirty="0">
                <a:solidFill>
                  <a:srgbClr val="2D211B"/>
                </a:solidFill>
                <a:latin typeface="Calibri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6443" y="4939389"/>
            <a:ext cx="1965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highest </a:t>
            </a:r>
            <a:r>
              <a:rPr lang="en-US" sz="1100" b="0" i="0" dirty="0">
                <a:solidFill>
                  <a:srgbClr val="72645C"/>
                </a:solidFill>
                <a:latin typeface="Calibri"/>
              </a:rPr>
              <a:t>attrition</a:t>
            </a:r>
            <a:r>
              <a:rPr sz="1100" b="0" i="0" dirty="0">
                <a:solidFill>
                  <a:srgbClr val="72645C"/>
                </a:solidFill>
                <a:latin typeface="Calibri"/>
              </a:rPr>
              <a:t> rate</a:t>
            </a:r>
            <a:r>
              <a:rPr lang="en-US" sz="1100" b="0" i="0" dirty="0">
                <a:solidFill>
                  <a:srgbClr val="72645C"/>
                </a:solidFill>
                <a:latin typeface="Calibri"/>
              </a:rPr>
              <a:t> by age-group</a:t>
            </a:r>
            <a:endParaRPr sz="1100" b="0" i="0" dirty="0">
              <a:solidFill>
                <a:srgbClr val="72645C"/>
              </a:solidFill>
              <a:latin typeface="Calibr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980806" y="4246245"/>
            <a:ext cx="3364992" cy="1051560"/>
          </a:xfrm>
          <a:prstGeom prst="roundRect">
            <a:avLst/>
          </a:prstGeom>
          <a:solidFill>
            <a:srgbClr val="F5EEE7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47903" y="4746022"/>
            <a:ext cx="222770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D211B"/>
                </a:solidFill>
                <a:latin typeface="Calibri"/>
              </a:defRPr>
            </a:pPr>
            <a:r>
              <a:rPr lang="en-US" sz="1300" b="1" i="0" dirty="0">
                <a:solidFill>
                  <a:srgbClr val="2D211B"/>
                </a:solidFill>
                <a:latin typeface="Calibri"/>
              </a:rPr>
              <a:t>39.8% </a:t>
            </a:r>
            <a:r>
              <a:rPr sz="1300" b="1" i="0" dirty="0">
                <a:solidFill>
                  <a:srgbClr val="2D211B"/>
                </a:solidFill>
                <a:latin typeface="Calibri"/>
              </a:rPr>
              <a:t>Sales Representatives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0951" y="4954047"/>
            <a:ext cx="1965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highest </a:t>
            </a:r>
            <a:r>
              <a:rPr lang="en-US" sz="1100" b="0" i="0" dirty="0">
                <a:solidFill>
                  <a:srgbClr val="72645C"/>
                </a:solidFill>
                <a:latin typeface="Calibri"/>
              </a:rPr>
              <a:t>attrition</a:t>
            </a:r>
            <a:r>
              <a:rPr sz="1100" b="0" i="0" dirty="0">
                <a:solidFill>
                  <a:srgbClr val="72645C"/>
                </a:solidFill>
                <a:latin typeface="Calibri"/>
              </a:rPr>
              <a:t> rate</a:t>
            </a:r>
            <a:r>
              <a:rPr lang="en-US" sz="1100" b="0" i="0" dirty="0">
                <a:solidFill>
                  <a:srgbClr val="72645C"/>
                </a:solidFill>
                <a:latin typeface="Calibri"/>
              </a:rPr>
              <a:t> by job role</a:t>
            </a:r>
            <a:endParaRPr sz="1100" b="0" i="0" dirty="0">
              <a:solidFill>
                <a:srgbClr val="72645C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1347" y="5572125"/>
            <a:ext cx="10607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71371F"/>
                </a:solidFill>
                <a:latin typeface="Calibri"/>
              </a:defRPr>
            </a:pPr>
            <a:r>
              <a:rPr lang="en-US" sz="1200" b="1" i="0" dirty="0">
                <a:solidFill>
                  <a:srgbClr val="71371F"/>
                </a:solidFill>
                <a:latin typeface="Calibri"/>
              </a:rPr>
              <a:t>These are </a:t>
            </a:r>
            <a:r>
              <a:rPr lang="en-US" sz="1200" b="1" dirty="0">
                <a:solidFill>
                  <a:srgbClr val="71371F"/>
                </a:solidFill>
                <a:latin typeface="Calibri"/>
              </a:rPr>
              <a:t>the</a:t>
            </a:r>
            <a:r>
              <a:rPr sz="1200" b="1" i="0" dirty="0">
                <a:solidFill>
                  <a:srgbClr val="71371F"/>
                </a:solidFill>
                <a:latin typeface="Calibri"/>
              </a:rPr>
              <a:t> risk signals to investigate</a:t>
            </a:r>
            <a:r>
              <a:rPr lang="en-US" sz="1200" b="1" i="0" dirty="0">
                <a:solidFill>
                  <a:srgbClr val="71371F"/>
                </a:solidFill>
                <a:latin typeface="Calibri"/>
              </a:rPr>
              <a:t>, </a:t>
            </a:r>
            <a:r>
              <a:rPr sz="1200" b="1" i="0" dirty="0">
                <a:solidFill>
                  <a:srgbClr val="71371F"/>
                </a:solidFill>
                <a:latin typeface="Calibri"/>
              </a:rPr>
              <a:t>not proof that any one factor causes employees to leave.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1E7BA7-9094-4BF9-A3BC-71365D449D6C}"/>
              </a:ext>
            </a:extLst>
          </p:cNvPr>
          <p:cNvSpPr txBox="1"/>
          <p:nvPr/>
        </p:nvSpPr>
        <p:spPr>
          <a:xfrm>
            <a:off x="1802891" y="4360277"/>
            <a:ext cx="1236727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71371F"/>
                </a:solidFill>
                <a:latin typeface="Calibri"/>
              </a:defRPr>
            </a:pPr>
            <a:r>
              <a:rPr lang="en-IN" sz="2300" b="1" i="0" dirty="0">
                <a:solidFill>
                  <a:srgbClr val="71371F"/>
                </a:solidFill>
                <a:latin typeface="Calibri"/>
              </a:rPr>
              <a:t>Overtime</a:t>
            </a:r>
            <a:endParaRPr sz="2300" b="1" i="0" dirty="0">
              <a:solidFill>
                <a:srgbClr val="71371F"/>
              </a:solidFill>
              <a:latin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C04E56-6540-4BCB-9D80-4B96B16F3082}"/>
              </a:ext>
            </a:extLst>
          </p:cNvPr>
          <p:cNvSpPr txBox="1"/>
          <p:nvPr/>
        </p:nvSpPr>
        <p:spPr>
          <a:xfrm>
            <a:off x="5384102" y="4340338"/>
            <a:ext cx="1369124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C65A2D"/>
                </a:solidFill>
                <a:latin typeface="Calibri"/>
              </a:defRPr>
            </a:pPr>
            <a:r>
              <a:rPr lang="en-US" sz="2300" b="1" i="0" dirty="0">
                <a:solidFill>
                  <a:srgbClr val="C65A2D"/>
                </a:solidFill>
                <a:latin typeface="Calibri"/>
              </a:rPr>
              <a:t>Age-Group</a:t>
            </a:r>
            <a:endParaRPr sz="2300" b="1" i="0" dirty="0">
              <a:solidFill>
                <a:srgbClr val="C65A2D"/>
              </a:solidFill>
              <a:latin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223B21-5A32-4216-9F5E-43EB690FFBBA}"/>
              </a:ext>
            </a:extLst>
          </p:cNvPr>
          <p:cNvSpPr txBox="1"/>
          <p:nvPr/>
        </p:nvSpPr>
        <p:spPr>
          <a:xfrm>
            <a:off x="9163906" y="4340338"/>
            <a:ext cx="1071945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8A482B"/>
                </a:solidFill>
                <a:latin typeface="Calibri"/>
              </a:defRPr>
            </a:pPr>
            <a:r>
              <a:rPr lang="en-US" sz="2300" b="1" i="0" dirty="0">
                <a:solidFill>
                  <a:srgbClr val="8A482B"/>
                </a:solidFill>
                <a:latin typeface="Calibri"/>
              </a:rPr>
              <a:t>Job-Role</a:t>
            </a:r>
            <a:endParaRPr sz="2300" b="1" i="0" dirty="0">
              <a:solidFill>
                <a:srgbClr val="8A48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47548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D211B"/>
                </a:solidFill>
                <a:latin typeface="Calibri"/>
              </a:defRPr>
            </a:pPr>
            <a:r>
              <a:rPr sz="3000" b="1" i="0" dirty="0">
                <a:solidFill>
                  <a:srgbClr val="2D211B"/>
                </a:solidFill>
                <a:latin typeface="Calibri"/>
              </a:rPr>
              <a:t>The highest exit rate is not the same as the highest exit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18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72645C"/>
                </a:solidFill>
                <a:latin typeface="Calibri"/>
              </a:defRPr>
            </a:pPr>
            <a:r>
              <a:rPr sz="1600" b="0" i="0" dirty="0">
                <a:solidFill>
                  <a:srgbClr val="72645C"/>
                </a:solidFill>
                <a:latin typeface="Calibri"/>
              </a:rPr>
              <a:t>Role-level rates point to specific hotspots; department-level rates put the totals in context.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1371F"/>
                </a:solidFill>
                <a:latin typeface="Calibri"/>
              </a:defRPr>
            </a:pPr>
            <a:r>
              <a:rPr sz="900" b="1" i="0">
                <a:solidFill>
                  <a:srgbClr val="71371F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6629400" cy="4773168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6597" y="1781388"/>
            <a:ext cx="3931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2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Attrition rate by job role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1481328"/>
            <a:ext cx="431596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07808" y="1709928"/>
            <a:ext cx="3703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Attrition rate by department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60920" y="4023360"/>
            <a:ext cx="4315968" cy="2231136"/>
          </a:xfrm>
          <a:prstGeom prst="roundRect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667243" y="4147470"/>
            <a:ext cx="3703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10" b="1" i="0">
                <a:solidFill>
                  <a:srgbClr val="FFFFFF"/>
                </a:solidFill>
                <a:latin typeface="Calibri"/>
              </a:defRPr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Counts and rates tell different stories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18922" y="4498847"/>
            <a:ext cx="3675887" cy="1600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FFFFFF"/>
                </a:solidFill>
                <a:latin typeface="Calibri"/>
              </a:defRPr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• Sales Representatives have the highest role-level rate: 39.8% (33 exits from 83 employees).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FFFFFF"/>
                </a:solidFill>
                <a:latin typeface="Calibri"/>
              </a:defRPr>
            </a:pPr>
            <a:endParaRPr sz="13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FFFFFF"/>
                </a:solidFill>
                <a:latin typeface="Calibri"/>
              </a:defRPr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• Laboratory Technicians account for the most</a:t>
            </a:r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 number of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exits within a role: 62 (23.9%).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FFFFFF"/>
                </a:solidFill>
                <a:latin typeface="Calibri"/>
              </a:defRPr>
            </a:pPr>
            <a:endParaRPr sz="13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FFFFFF"/>
                </a:solidFill>
                <a:latin typeface="Calibri"/>
              </a:defRPr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• R&amp;D has the most exits by department (133)</a:t>
            </a:r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 in number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, but the lowest department rate (13.8%).</a:t>
            </a:r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73FD9B93-F26E-478A-8ABE-4220B2B847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109097"/>
              </p:ext>
            </p:extLst>
          </p:nvPr>
        </p:nvGraphicFramePr>
        <p:xfrm>
          <a:off x="717634" y="2121991"/>
          <a:ext cx="6062544" cy="3838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6" name="Chart 75">
            <a:extLst>
              <a:ext uri="{FF2B5EF4-FFF2-40B4-BE49-F238E27FC236}">
                <a16:creationId xmlns:a16="http://schemas.microsoft.com/office/drawing/2014/main" id="{D9BEA380-99F2-4F9C-B788-D78A918E8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70472"/>
              </p:ext>
            </p:extLst>
          </p:nvPr>
        </p:nvGraphicFramePr>
        <p:xfrm>
          <a:off x="7547684" y="1956149"/>
          <a:ext cx="3942439" cy="1763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47548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D211B"/>
                </a:solidFill>
                <a:latin typeface="Calibri"/>
              </a:defRPr>
            </a:pPr>
            <a:r>
              <a:rPr sz="3000" b="1" i="0" dirty="0">
                <a:solidFill>
                  <a:srgbClr val="2D211B"/>
                </a:solidFill>
                <a:latin typeface="Calibri"/>
              </a:rPr>
              <a:t>Three segments show clear attrition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18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72645C"/>
                </a:solidFill>
                <a:latin typeface="Calibri"/>
              </a:defRPr>
            </a:pPr>
            <a:r>
              <a:rPr sz="1600" b="0" i="0" dirty="0">
                <a:solidFill>
                  <a:srgbClr val="72645C"/>
                </a:solidFill>
                <a:latin typeface="Calibri"/>
              </a:rPr>
              <a:t>These differences are large enough to investigate, but the dashboard alone cannot establish </a:t>
            </a:r>
            <a:r>
              <a:rPr lang="en-US" sz="1600" b="0" i="0" dirty="0">
                <a:solidFill>
                  <a:srgbClr val="72645C"/>
                </a:solidFill>
                <a:latin typeface="Calibri"/>
              </a:rPr>
              <a:t>the </a:t>
            </a:r>
            <a:r>
              <a:rPr sz="1600" b="0" i="0" dirty="0">
                <a:solidFill>
                  <a:srgbClr val="72645C"/>
                </a:solidFill>
                <a:latin typeface="Calibri"/>
              </a:rPr>
              <a:t>cause.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1371F"/>
                </a:solidFill>
                <a:latin typeface="Calibri"/>
              </a:defRPr>
            </a:pPr>
            <a:r>
              <a:rPr sz="900" b="1" i="0">
                <a:solidFill>
                  <a:srgbClr val="71371F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72768"/>
            <a:ext cx="3529584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24363"/>
            <a:ext cx="30906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71371F"/>
                </a:solidFill>
                <a:latin typeface="Calibri"/>
              </a:defRPr>
            </a:pPr>
            <a:r>
              <a:rPr sz="2100" b="1" i="0" dirty="0">
                <a:solidFill>
                  <a:srgbClr val="71371F"/>
                </a:solidFill>
                <a:latin typeface="Calibri"/>
              </a:rPr>
              <a:t>Overtime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84" y="2701648"/>
            <a:ext cx="30906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D211B"/>
                </a:solidFill>
                <a:latin typeface="Calibri"/>
              </a:defRPr>
            </a:pPr>
            <a:r>
              <a:rPr sz="1300" b="1" i="0">
                <a:solidFill>
                  <a:srgbClr val="2D211B"/>
                </a:solidFill>
                <a:latin typeface="Calibri"/>
              </a:rPr>
              <a:t>Overtime: 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084" y="3012543"/>
            <a:ext cx="2523744" cy="164592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7084" y="3012543"/>
            <a:ext cx="2332551" cy="164592"/>
          </a:xfrm>
          <a:prstGeom prst="rect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98844" y="2957680"/>
            <a:ext cx="4389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D211B"/>
                </a:solidFill>
                <a:latin typeface="Calibri"/>
              </a:defRPr>
            </a:pPr>
            <a:r>
              <a:rPr sz="1100" b="1" i="0" dirty="0">
                <a:solidFill>
                  <a:srgbClr val="2D211B"/>
                </a:solidFill>
                <a:latin typeface="Calibri"/>
              </a:rPr>
              <a:t>30.5%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84" y="3469743"/>
            <a:ext cx="30906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2D211B"/>
                </a:solidFill>
                <a:latin typeface="Calibri"/>
              </a:defRPr>
            </a:pPr>
            <a:r>
              <a:rPr sz="1300" b="0" i="0">
                <a:solidFill>
                  <a:srgbClr val="2D211B"/>
                </a:solidFill>
                <a:latin typeface="Calibri"/>
              </a:rPr>
              <a:t>Overtime: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084" y="3780639"/>
            <a:ext cx="2523744" cy="164592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7084" y="3780639"/>
            <a:ext cx="795361" cy="164592"/>
          </a:xfrm>
          <a:prstGeom prst="rect">
            <a:avLst/>
          </a:prstGeom>
          <a:solidFill>
            <a:srgbClr val="F4C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98844" y="3725776"/>
            <a:ext cx="4389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10.4%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7084" y="4439008"/>
            <a:ext cx="3090671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9146" y="4681310"/>
            <a:ext cx="309067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72645C"/>
                </a:solidFill>
                <a:latin typeface="Calibri"/>
              </a:defRPr>
            </a:pPr>
            <a:r>
              <a:rPr lang="en-US" sz="1300" dirty="0">
                <a:solidFill>
                  <a:srgbClr val="72645C"/>
                </a:solidFill>
                <a:latin typeface="Calibri"/>
              </a:rPr>
              <a:t>W</a:t>
            </a:r>
            <a:r>
              <a:rPr sz="1300" b="0" i="0" dirty="0">
                <a:solidFill>
                  <a:srgbClr val="72645C"/>
                </a:solidFill>
                <a:latin typeface="Calibri"/>
              </a:rPr>
              <a:t>orkload, staffing and overtime patterns by role</a:t>
            </a:r>
            <a:r>
              <a:rPr lang="en-US" sz="1300" b="0" i="0" dirty="0">
                <a:solidFill>
                  <a:srgbClr val="72645C"/>
                </a:solidFill>
                <a:latin typeface="Calibri"/>
              </a:rPr>
              <a:t>, needs a check</a:t>
            </a:r>
            <a:r>
              <a:rPr sz="1300" b="0" i="0" dirty="0">
                <a:solidFill>
                  <a:srgbClr val="72645C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572768"/>
            <a:ext cx="3529584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1924363"/>
            <a:ext cx="30906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71371F"/>
                </a:solidFill>
                <a:latin typeface="Calibri"/>
              </a:defRPr>
            </a:pPr>
            <a:r>
              <a:rPr sz="2100" b="1" i="0" dirty="0">
                <a:solidFill>
                  <a:srgbClr val="71371F"/>
                </a:solidFill>
                <a:latin typeface="Calibri"/>
              </a:rPr>
              <a:t>Monthly income 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844" y="2701648"/>
            <a:ext cx="30906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D211B"/>
                </a:solidFill>
                <a:latin typeface="Calibri"/>
              </a:defRPr>
            </a:pPr>
            <a:r>
              <a:rPr sz="1300" b="1" i="0">
                <a:solidFill>
                  <a:srgbClr val="2D211B"/>
                </a:solidFill>
                <a:latin typeface="Calibri"/>
              </a:rPr>
              <a:t>Under 3K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41844" y="3012543"/>
            <a:ext cx="2523744" cy="164592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41844" y="3012543"/>
            <a:ext cx="2187244" cy="164592"/>
          </a:xfrm>
          <a:prstGeom prst="rect">
            <a:avLst/>
          </a:prstGeom>
          <a:solidFill>
            <a:srgbClr val="C6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3604" y="2957680"/>
            <a:ext cx="4389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28.6%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1844" y="3469743"/>
            <a:ext cx="30906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2D211B"/>
                </a:solidFill>
                <a:latin typeface="Calibri"/>
              </a:defRPr>
            </a:pPr>
            <a:r>
              <a:rPr sz="1300" b="0" i="0">
                <a:solidFill>
                  <a:srgbClr val="2D211B"/>
                </a:solidFill>
                <a:latin typeface="Calibri"/>
              </a:rPr>
              <a:t>Above 10K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1844" y="3780639"/>
            <a:ext cx="2523744" cy="164592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41844" y="3780639"/>
            <a:ext cx="680646" cy="164592"/>
          </a:xfrm>
          <a:prstGeom prst="rect">
            <a:avLst/>
          </a:prstGeom>
          <a:solidFill>
            <a:srgbClr val="F4C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93604" y="3725776"/>
            <a:ext cx="4389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8.9%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41844" y="4439008"/>
            <a:ext cx="309067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53906" y="4681310"/>
            <a:ext cx="309067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72645C"/>
                </a:solidFill>
                <a:latin typeface="Calibri"/>
              </a:defRPr>
            </a:pPr>
            <a:r>
              <a:rPr sz="1300" b="0" i="0" dirty="0">
                <a:solidFill>
                  <a:srgbClr val="72645C"/>
                </a:solidFill>
                <a:latin typeface="Calibri"/>
              </a:rPr>
              <a:t>Compare </a:t>
            </a:r>
            <a:r>
              <a:rPr lang="en-US" sz="1300" b="0" i="0" dirty="0">
                <a:solidFill>
                  <a:srgbClr val="72645C"/>
                </a:solidFill>
                <a:latin typeface="Calibri"/>
              </a:rPr>
              <a:t>income</a:t>
            </a:r>
            <a:r>
              <a:rPr sz="1300" b="0" i="0" dirty="0">
                <a:solidFill>
                  <a:srgbClr val="72645C"/>
                </a:solidFill>
                <a:latin typeface="Calibri"/>
              </a:rPr>
              <a:t> bands alongside job level, role and tenure.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9872" y="1572768"/>
            <a:ext cx="3529584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9328" y="1924363"/>
            <a:ext cx="30906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71371F"/>
                </a:solidFill>
                <a:latin typeface="Calibri"/>
              </a:defRPr>
            </a:pPr>
            <a:r>
              <a:rPr sz="2100" b="1" i="0" dirty="0">
                <a:solidFill>
                  <a:srgbClr val="71371F"/>
                </a:solidFill>
                <a:latin typeface="Calibri"/>
              </a:rPr>
              <a:t>Business travel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6604" y="2701648"/>
            <a:ext cx="30906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D211B"/>
                </a:solidFill>
                <a:latin typeface="Calibri"/>
              </a:defRPr>
            </a:pPr>
            <a:r>
              <a:rPr sz="1300" b="1" i="0" dirty="0">
                <a:solidFill>
                  <a:srgbClr val="2D211B"/>
                </a:solidFill>
                <a:latin typeface="Calibri"/>
              </a:rPr>
              <a:t>Frequent travel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6604" y="3012543"/>
            <a:ext cx="2523744" cy="164592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36604" y="3012543"/>
            <a:ext cx="1904279" cy="164592"/>
          </a:xfrm>
          <a:prstGeom prst="rect">
            <a:avLst/>
          </a:prstGeom>
          <a:solidFill>
            <a:srgbClr val="8A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988364" y="2957680"/>
            <a:ext cx="4389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24.9%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6604" y="3469743"/>
            <a:ext cx="30906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2D211B"/>
                </a:solidFill>
                <a:latin typeface="Calibri"/>
              </a:defRPr>
            </a:pPr>
            <a:r>
              <a:rPr sz="1300" b="0" i="0">
                <a:solidFill>
                  <a:srgbClr val="2D211B"/>
                </a:solidFill>
                <a:latin typeface="Calibri"/>
              </a:rPr>
              <a:t>Non-travel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6604" y="3780639"/>
            <a:ext cx="2523744" cy="164592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36604" y="3780639"/>
            <a:ext cx="611816" cy="164592"/>
          </a:xfrm>
          <a:prstGeom prst="rect">
            <a:avLst/>
          </a:prstGeom>
          <a:solidFill>
            <a:srgbClr val="F4C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988364" y="3725776"/>
            <a:ext cx="4389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8.0%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36604" y="4439008"/>
            <a:ext cx="309067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48666" y="4681310"/>
            <a:ext cx="309067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72645C"/>
                </a:solidFill>
                <a:latin typeface="Calibri"/>
              </a:defRPr>
            </a:pPr>
            <a:r>
              <a:rPr sz="1300" b="0" i="0" dirty="0">
                <a:solidFill>
                  <a:srgbClr val="72645C"/>
                </a:solidFill>
                <a:latin typeface="Calibri"/>
              </a:rPr>
              <a:t>Review travel load, recovery time and employee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47548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D211B"/>
                </a:solidFill>
                <a:latin typeface="Calibri"/>
              </a:defRPr>
            </a:pPr>
            <a:r>
              <a:rPr sz="3000" b="1" i="0" dirty="0">
                <a:solidFill>
                  <a:srgbClr val="2D211B"/>
                </a:solidFill>
                <a:latin typeface="Calibri"/>
              </a:rPr>
              <a:t>Age</a:t>
            </a:r>
            <a:r>
              <a:rPr lang="en-US" sz="3000" b="1" i="0" dirty="0">
                <a:solidFill>
                  <a:srgbClr val="2D211B"/>
                </a:solidFill>
                <a:latin typeface="Calibri"/>
              </a:rPr>
              <a:t> and Marital Status</a:t>
            </a:r>
            <a:r>
              <a:rPr sz="3000" b="1" i="0" dirty="0">
                <a:solidFill>
                  <a:srgbClr val="2D211B"/>
                </a:solidFill>
                <a:latin typeface="Calibri"/>
              </a:rPr>
              <a:t> show</a:t>
            </a:r>
            <a:r>
              <a:rPr lang="en-US" sz="3000" b="1" i="0" dirty="0">
                <a:solidFill>
                  <a:srgbClr val="2D211B"/>
                </a:solidFill>
                <a:latin typeface="Calibri"/>
              </a:rPr>
              <a:t> significant</a:t>
            </a:r>
            <a:r>
              <a:rPr sz="3000" b="1" i="0" dirty="0">
                <a:solidFill>
                  <a:srgbClr val="2D211B"/>
                </a:solidFill>
                <a:latin typeface="Calibri"/>
              </a:rPr>
              <a:t> </a:t>
            </a:r>
            <a:r>
              <a:rPr lang="en-US" sz="3000" b="1" i="0" dirty="0">
                <a:solidFill>
                  <a:srgbClr val="2D211B"/>
                </a:solidFill>
                <a:latin typeface="Calibri"/>
              </a:rPr>
              <a:t>signs of Attrition</a:t>
            </a:r>
            <a:endParaRPr sz="3000" b="1" i="0" dirty="0">
              <a:solidFill>
                <a:srgbClr val="2D211B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18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72645C"/>
                </a:solidFill>
                <a:latin typeface="Calibri"/>
              </a:defRPr>
            </a:pPr>
            <a:r>
              <a:rPr sz="1600" b="0" i="0" dirty="0">
                <a:solidFill>
                  <a:srgbClr val="72645C"/>
                </a:solidFill>
                <a:latin typeface="Calibri"/>
              </a:rPr>
              <a:t>Younger employees and single employees have higher observed attrition rates.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1371F"/>
                </a:solidFill>
                <a:latin typeface="Calibri"/>
              </a:defRPr>
            </a:pPr>
            <a:r>
              <a:rPr sz="900" b="1" i="0">
                <a:solidFill>
                  <a:srgbClr val="71371F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589788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5746" y="183490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Attrition by age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746" y="2145796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72645C"/>
                </a:solidFill>
                <a:latin typeface="Calibri"/>
              </a:defRPr>
            </a:pPr>
            <a:r>
              <a:rPr sz="1300" b="0" i="0" dirty="0">
                <a:solidFill>
                  <a:srgbClr val="72645C"/>
                </a:solidFill>
                <a:latin typeface="Calibri"/>
              </a:rPr>
              <a:t>Rate plus exit count / group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7" y="2761343"/>
            <a:ext cx="704088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11B"/>
                </a:solidFill>
                <a:latin typeface="Calibri"/>
              </a:defRPr>
            </a:pPr>
            <a:r>
              <a:rPr sz="1300" b="1" i="0">
                <a:solidFill>
                  <a:srgbClr val="2D211B"/>
                </a:solidFill>
                <a:latin typeface="Calibri"/>
              </a:rPr>
              <a:t>18–25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5065" y="2769931"/>
            <a:ext cx="3456432" cy="182880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55065" y="2769931"/>
            <a:ext cx="3256322" cy="182880"/>
          </a:xfrm>
          <a:prstGeom prst="rect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5" y="2767588"/>
            <a:ext cx="72237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70" b="1" i="0">
                <a:solidFill>
                  <a:srgbClr val="71371F"/>
                </a:solidFill>
                <a:latin typeface="Calibri"/>
              </a:defRPr>
            </a:pPr>
            <a:r>
              <a:rPr sz="1100" b="1" i="0">
                <a:solidFill>
                  <a:srgbClr val="71371F"/>
                </a:solidFill>
                <a:latin typeface="Calibri"/>
              </a:rPr>
              <a:t>35.8%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9" y="3007675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44 / 123 exits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7" y="3520295"/>
            <a:ext cx="704088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11B"/>
                </a:solidFill>
                <a:latin typeface="Calibri"/>
              </a:defRPr>
            </a:pPr>
            <a:r>
              <a:rPr sz="1300" b="0" i="0" dirty="0">
                <a:solidFill>
                  <a:srgbClr val="2D211B"/>
                </a:solidFill>
                <a:latin typeface="Calibri"/>
              </a:rPr>
              <a:t>26–35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55065" y="3528883"/>
            <a:ext cx="3456432" cy="182880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55065" y="3528883"/>
            <a:ext cx="1737311" cy="182880"/>
          </a:xfrm>
          <a:prstGeom prst="rect">
            <a:avLst/>
          </a:prstGeom>
          <a:solidFill>
            <a:srgbClr val="E77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21225" y="3526540"/>
            <a:ext cx="72237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7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19.1%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9" y="3766627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116 / 606 exits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7" y="4279247"/>
            <a:ext cx="704088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11B"/>
                </a:solidFill>
                <a:latin typeface="Calibri"/>
              </a:defRPr>
            </a:pPr>
            <a:r>
              <a:rPr sz="1300" b="0" i="0">
                <a:solidFill>
                  <a:srgbClr val="2D211B"/>
                </a:solidFill>
                <a:latin typeface="Calibri"/>
              </a:rPr>
              <a:t>36–45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065" y="4287835"/>
            <a:ext cx="3456432" cy="182880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55065" y="4287835"/>
            <a:ext cx="836820" cy="182880"/>
          </a:xfrm>
          <a:prstGeom prst="rect">
            <a:avLst/>
          </a:prstGeom>
          <a:solidFill>
            <a:srgbClr val="E77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1225" y="4285492"/>
            <a:ext cx="72237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70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9.2%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9" y="4525579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43 / 468 exits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7" y="5038199"/>
            <a:ext cx="704088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11B"/>
                </a:solidFill>
                <a:latin typeface="Calibri"/>
              </a:defRPr>
            </a:pPr>
            <a:r>
              <a:rPr sz="1300" b="0" i="0" dirty="0">
                <a:solidFill>
                  <a:srgbClr val="2D211B"/>
                </a:solidFill>
                <a:latin typeface="Calibri"/>
              </a:rPr>
              <a:t>45–60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55065" y="5046787"/>
            <a:ext cx="3456432" cy="182880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55065" y="5046787"/>
            <a:ext cx="1136984" cy="182880"/>
          </a:xfrm>
          <a:prstGeom prst="rect">
            <a:avLst/>
          </a:prstGeom>
          <a:solidFill>
            <a:srgbClr val="E77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21225" y="5044444"/>
            <a:ext cx="72237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70" b="1" i="0">
                <a:solidFill>
                  <a:srgbClr val="2D211B"/>
                </a:solidFill>
                <a:latin typeface="Calibri"/>
              </a:defRPr>
            </a:pPr>
            <a:r>
              <a:rPr sz="1100" b="1" i="0" dirty="0">
                <a:solidFill>
                  <a:srgbClr val="2D211B"/>
                </a:solidFill>
                <a:latin typeface="Calibri"/>
              </a:rPr>
              <a:t>12.5%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9" y="5284531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72645C"/>
                </a:solidFill>
                <a:latin typeface="Calibri"/>
              </a:defRPr>
            </a:pPr>
            <a:r>
              <a:rPr sz="1100" b="0" i="0" dirty="0">
                <a:solidFill>
                  <a:srgbClr val="72645C"/>
                </a:solidFill>
                <a:latin typeface="Calibri"/>
              </a:rPr>
              <a:t>34 / 273 exits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1481328"/>
            <a:ext cx="5047488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1904514"/>
            <a:ext cx="4526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Other differences worth noting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2382125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65A2D"/>
                </a:solidFill>
                <a:latin typeface="Calibri"/>
              </a:defRPr>
            </a:pPr>
            <a:r>
              <a:rPr sz="1300" b="1" i="0">
                <a:solidFill>
                  <a:srgbClr val="C65A2D"/>
                </a:solidFill>
                <a:latin typeface="Calibri"/>
              </a:rPr>
              <a:t>MARITAL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0296" y="2674733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1" i="0">
                <a:solidFill>
                  <a:srgbClr val="2D211B"/>
                </a:solidFill>
                <a:latin typeface="Calibri"/>
              </a:defRPr>
            </a:pPr>
            <a:r>
              <a:rPr sz="1300" b="1" i="0">
                <a:solidFill>
                  <a:srgbClr val="2D211B"/>
                </a:solidFill>
                <a:latin typeface="Calibri"/>
              </a:rPr>
              <a:t>Single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5007" y="2706737"/>
            <a:ext cx="2404872" cy="146304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65007" y="2706737"/>
            <a:ext cx="2190151" cy="146304"/>
          </a:xfrm>
          <a:prstGeom prst="rect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52176" y="2690678"/>
            <a:ext cx="70408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25.5%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0296" y="3104501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2D211B"/>
                </a:solidFill>
                <a:latin typeface="Calibri"/>
              </a:defRPr>
            </a:pPr>
            <a:r>
              <a:rPr sz="1300" b="0" i="0">
                <a:solidFill>
                  <a:srgbClr val="2D211B"/>
                </a:solidFill>
                <a:latin typeface="Calibri"/>
              </a:rPr>
              <a:t>Married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7" y="3136505"/>
            <a:ext cx="2404872" cy="146304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65007" y="3136505"/>
            <a:ext cx="1073603" cy="146304"/>
          </a:xfrm>
          <a:prstGeom prst="rect">
            <a:avLst/>
          </a:prstGeom>
          <a:solidFill>
            <a:srgbClr val="E77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52176" y="3120446"/>
            <a:ext cx="70408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12.5%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0296" y="353426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2D211B"/>
                </a:solidFill>
                <a:latin typeface="Calibri"/>
              </a:defRPr>
            </a:pPr>
            <a:r>
              <a:rPr sz="1300" b="0" i="0">
                <a:solidFill>
                  <a:srgbClr val="2D211B"/>
                </a:solidFill>
                <a:latin typeface="Calibri"/>
              </a:rPr>
              <a:t>Divorced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7" y="3566273"/>
            <a:ext cx="2404872" cy="146304"/>
          </a:xfrm>
          <a:prstGeom prst="rect">
            <a:avLst/>
          </a:prstGeom>
          <a:solidFill>
            <a:srgbClr val="F8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65007" y="3566273"/>
            <a:ext cx="867471" cy="146304"/>
          </a:xfrm>
          <a:prstGeom prst="rect">
            <a:avLst/>
          </a:prstGeom>
          <a:solidFill>
            <a:srgbClr val="E77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52176" y="3550214"/>
            <a:ext cx="70408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2D211B"/>
                </a:solidFill>
                <a:latin typeface="Calibri"/>
              </a:defRPr>
            </a:pPr>
            <a:r>
              <a:rPr sz="1100" b="1" i="0">
                <a:solidFill>
                  <a:srgbClr val="2D211B"/>
                </a:solidFill>
                <a:latin typeface="Calibri"/>
              </a:rPr>
              <a:t>10.1%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942176" y="4160730"/>
            <a:ext cx="4526280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923888" y="4467306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65A2D"/>
                </a:solidFill>
                <a:latin typeface="Calibri"/>
              </a:defRPr>
            </a:pPr>
            <a:r>
              <a:rPr sz="1300" b="1" i="0" dirty="0">
                <a:solidFill>
                  <a:srgbClr val="C65A2D"/>
                </a:solidFill>
                <a:latin typeface="Calibri"/>
              </a:rPr>
              <a:t>GENDER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2176" y="4778203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D211B"/>
                </a:solidFill>
                <a:latin typeface="Calibri"/>
              </a:defRPr>
            </a:pPr>
            <a:r>
              <a:rPr sz="1300" b="1" i="0">
                <a:solidFill>
                  <a:srgbClr val="2D211B"/>
                </a:solidFill>
                <a:latin typeface="Calibri"/>
              </a:rPr>
              <a:t>Male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3696" y="4732483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71371F"/>
                </a:solidFill>
                <a:latin typeface="Calibri"/>
              </a:defRPr>
            </a:pPr>
            <a:r>
              <a:rPr sz="1600" b="1" i="0">
                <a:solidFill>
                  <a:srgbClr val="71371F"/>
                </a:solidFill>
                <a:latin typeface="Calibri"/>
              </a:rPr>
              <a:t>17.0%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2456" y="4778203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D211B"/>
                </a:solidFill>
                <a:latin typeface="Calibri"/>
              </a:defRPr>
            </a:pPr>
            <a:r>
              <a:rPr sz="1300" b="1" i="0">
                <a:solidFill>
                  <a:srgbClr val="2D211B"/>
                </a:solidFill>
                <a:latin typeface="Calibri"/>
              </a:rPr>
              <a:t>Female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59696" y="4732483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65A2D"/>
                </a:solidFill>
                <a:latin typeface="Calibri"/>
              </a:defRPr>
            </a:pPr>
            <a:r>
              <a:rPr sz="1600" b="1" i="0">
                <a:solidFill>
                  <a:srgbClr val="C65A2D"/>
                </a:solidFill>
                <a:latin typeface="Calibri"/>
              </a:rPr>
              <a:t>14.8%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23888" y="5186636"/>
            <a:ext cx="42976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72645C"/>
                </a:solidFill>
                <a:latin typeface="Calibri"/>
              </a:defRPr>
            </a:pPr>
            <a:r>
              <a:rPr sz="1300" b="0" i="0" dirty="0">
                <a:solidFill>
                  <a:srgbClr val="72645C"/>
                </a:solidFill>
                <a:latin typeface="Calibri"/>
              </a:rPr>
              <a:t>The gender gap is 2.2 percentage points</a:t>
            </a:r>
            <a:r>
              <a:rPr lang="en-US" sz="1300" b="0" i="0" dirty="0">
                <a:solidFill>
                  <a:srgbClr val="72645C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72645C"/>
                </a:solidFill>
                <a:latin typeface="Calibri"/>
              </a:rPr>
              <a:t>much smaller than the overtime or age-group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47548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D211B"/>
                </a:solidFill>
                <a:latin typeface="Calibri"/>
              </a:defRPr>
            </a:pPr>
            <a:r>
              <a:rPr sz="3000" b="1" i="0" dirty="0">
                <a:solidFill>
                  <a:srgbClr val="2D211B"/>
                </a:solidFill>
                <a:latin typeface="Calibri"/>
              </a:rPr>
              <a:t>Where HR could focus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18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72645C"/>
                </a:solidFill>
                <a:latin typeface="Calibri"/>
              </a:defRPr>
            </a:pPr>
            <a:r>
              <a:rPr sz="1600" b="0" i="0" dirty="0">
                <a:solidFill>
                  <a:srgbClr val="72645C"/>
                </a:solidFill>
                <a:latin typeface="Calibri"/>
              </a:rPr>
              <a:t>Prioritize the largest gaps</a:t>
            </a:r>
            <a:r>
              <a:rPr lang="en-US" sz="1600" dirty="0">
                <a:solidFill>
                  <a:srgbClr val="72645C"/>
                </a:solidFill>
                <a:latin typeface="Calibri"/>
              </a:rPr>
              <a:t> </a:t>
            </a:r>
            <a:r>
              <a:rPr lang="en-US" sz="1600" b="0" i="0" dirty="0">
                <a:solidFill>
                  <a:srgbClr val="72645C"/>
                </a:solidFill>
                <a:latin typeface="Calibri"/>
              </a:rPr>
              <a:t>to understand </a:t>
            </a:r>
            <a:r>
              <a:rPr sz="1600" b="0" i="0" dirty="0">
                <a:solidFill>
                  <a:srgbClr val="72645C"/>
                </a:solidFill>
                <a:latin typeface="Calibri"/>
              </a:rPr>
              <a:t>what is actually driving </a:t>
            </a:r>
            <a:r>
              <a:rPr lang="en-US" sz="1600" b="0" i="0" dirty="0">
                <a:solidFill>
                  <a:srgbClr val="72645C"/>
                </a:solidFill>
                <a:latin typeface="Calibri"/>
              </a:rPr>
              <a:t>attrition</a:t>
            </a:r>
            <a:r>
              <a:rPr sz="1600" b="0" i="0" dirty="0">
                <a:solidFill>
                  <a:srgbClr val="72645C"/>
                </a:solidFill>
                <a:latin typeface="Calibri"/>
              </a:rPr>
              <a:t> before committing to a policy change.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1371F"/>
                </a:solidFill>
                <a:latin typeface="Calibri"/>
              </a:defRPr>
            </a:pPr>
            <a:r>
              <a:rPr sz="900" b="1" i="0">
                <a:solidFill>
                  <a:srgbClr val="71371F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4161"/>
            <a:ext cx="5458968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  <a:effectLst>
            <a:glow rad="101600">
              <a:srgbClr val="F4C6AF">
                <a:alpha val="6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" y="2376283"/>
            <a:ext cx="420624" cy="420624"/>
          </a:xfrm>
          <a:prstGeom prst="ellipse">
            <a:avLst/>
          </a:prstGeom>
          <a:solidFill>
            <a:srgbClr val="C6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462035"/>
            <a:ext cx="42062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367139"/>
            <a:ext cx="4389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Review overtime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2641271"/>
            <a:ext cx="43891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2D211B"/>
                </a:solidFill>
                <a:latin typeface="Calibri"/>
              </a:defRPr>
            </a:pPr>
            <a:r>
              <a:rPr sz="1300" b="0" i="0" dirty="0">
                <a:solidFill>
                  <a:srgbClr val="2D211B"/>
                </a:solidFill>
                <a:latin typeface="Calibri"/>
              </a:rPr>
              <a:t>Attrition is 30.5% for employees working overtime versus 10.4% for those who do not. Map overtime by role and team, then review staffing and workload.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54161"/>
            <a:ext cx="5458968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82512" y="2376283"/>
            <a:ext cx="420624" cy="420624"/>
          </a:xfrm>
          <a:prstGeom prst="ellipse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462035"/>
            <a:ext cx="42062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367139"/>
            <a:ext cx="4389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71371F"/>
                </a:solidFill>
                <a:latin typeface="Calibri"/>
              </a:defRPr>
            </a:pPr>
            <a:r>
              <a:rPr sz="1600" b="1" i="0">
                <a:solidFill>
                  <a:srgbClr val="71371F"/>
                </a:solidFill>
                <a:latin typeface="Calibri"/>
              </a:rPr>
              <a:t>Support early-career employees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2641271"/>
            <a:ext cx="43891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2D211B"/>
                </a:solidFill>
                <a:latin typeface="Calibri"/>
              </a:defRPr>
            </a:pPr>
            <a:r>
              <a:rPr sz="1300" b="0" i="0" dirty="0">
                <a:solidFill>
                  <a:srgbClr val="2D211B"/>
                </a:solidFill>
                <a:latin typeface="Calibri"/>
              </a:rPr>
              <a:t>The 18</a:t>
            </a:r>
            <a:r>
              <a:rPr lang="en-US" sz="1300" b="0" i="0" dirty="0">
                <a:solidFill>
                  <a:srgbClr val="2D211B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2D211B"/>
                </a:solidFill>
                <a:latin typeface="Calibri"/>
              </a:rPr>
              <a:t>25 group has a 35.8% attrition rate. Strengthen onboarding, mentoring and early check-ins; ask new hires what would make them stay.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09809"/>
            <a:ext cx="5458968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4081077"/>
            <a:ext cx="420624" cy="420624"/>
          </a:xfrm>
          <a:prstGeom prst="ellipse">
            <a:avLst/>
          </a:prstGeom>
          <a:solidFill>
            <a:srgbClr val="C6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166829"/>
            <a:ext cx="42062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071933"/>
            <a:ext cx="4389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Target high-risk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4346066"/>
            <a:ext cx="43891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2D211B"/>
                </a:solidFill>
                <a:latin typeface="Calibri"/>
              </a:defRPr>
            </a:pPr>
            <a:r>
              <a:rPr sz="1300" b="0" i="0" dirty="0">
                <a:solidFill>
                  <a:srgbClr val="2D211B"/>
                </a:solidFill>
                <a:latin typeface="Calibri"/>
              </a:rPr>
              <a:t>Sales Representatives have a 39.8% rate. Laboratory Technicians account for 62 exits. Use stay interviews and exit feedback to understand the different role-level patterns.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09809"/>
            <a:ext cx="5458968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82512" y="4081077"/>
            <a:ext cx="420624" cy="420624"/>
          </a:xfrm>
          <a:prstGeom prst="ellipse">
            <a:avLst/>
          </a:prstGeom>
          <a:solidFill>
            <a:srgbClr val="713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4166829"/>
            <a:ext cx="42062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4071933"/>
            <a:ext cx="4389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71371F"/>
                </a:solidFill>
                <a:latin typeface="Calibri"/>
              </a:defRPr>
            </a:pPr>
            <a:r>
              <a:rPr sz="1600" b="1" i="0" dirty="0">
                <a:solidFill>
                  <a:srgbClr val="71371F"/>
                </a:solidFill>
                <a:latin typeface="Calibri"/>
              </a:rPr>
              <a:t>Investigate </a:t>
            </a:r>
            <a:r>
              <a:rPr lang="en-US" sz="1600" b="1" dirty="0">
                <a:solidFill>
                  <a:srgbClr val="71371F"/>
                </a:solidFill>
                <a:latin typeface="Calibri"/>
              </a:rPr>
              <a:t>income</a:t>
            </a:r>
            <a:r>
              <a:rPr sz="1600" b="1" i="0" dirty="0">
                <a:solidFill>
                  <a:srgbClr val="71371F"/>
                </a:solidFill>
                <a:latin typeface="Calibri"/>
              </a:rPr>
              <a:t> and travel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296" y="4346066"/>
            <a:ext cx="43891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2D211B"/>
                </a:solidFill>
                <a:latin typeface="Calibri"/>
              </a:defRPr>
            </a:pPr>
            <a:r>
              <a:rPr sz="1300" b="0" i="0" dirty="0">
                <a:solidFill>
                  <a:srgbClr val="2D211B"/>
                </a:solidFill>
                <a:latin typeface="Calibri"/>
              </a:rPr>
              <a:t>The under-3K band is at 28.6%, and frequent trave</a:t>
            </a:r>
            <a:r>
              <a:rPr lang="en-US" sz="1300" b="0" i="0" dirty="0">
                <a:solidFill>
                  <a:srgbClr val="2D211B"/>
                </a:solidFill>
                <a:latin typeface="Calibri"/>
              </a:rPr>
              <a:t>l</a:t>
            </a:r>
            <a:r>
              <a:rPr sz="1300" b="0" i="0" dirty="0">
                <a:solidFill>
                  <a:srgbClr val="2D211B"/>
                </a:solidFill>
                <a:latin typeface="Calibri"/>
              </a:rPr>
              <a:t>lers at 24.9%. Compare these groups by role, job level and tenure before assuming pay or travel is the cause.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24666</TotalTime>
  <Words>650</Words>
  <Application>Microsoft Office PowerPoint</Application>
  <PresentationFormat>Widescreen</PresentationFormat>
  <Paragraphs>121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Analysis: Insights and Recommendations</dc:title>
  <dc:subject>Two-page Power BI HR attrition dashboard analysis</dc:subject>
  <dc:creator>Ankita</dc:creator>
  <cp:keywords>HR Analytics, Attrition, Power BI, Workforce Insights</cp:keywords>
  <dc:description>generated using python-pptx</dc:description>
  <cp:lastModifiedBy>Ankita .</cp:lastModifiedBy>
  <cp:revision>23</cp:revision>
  <dcterms:created xsi:type="dcterms:W3CDTF">2013-01-27T09:14:16Z</dcterms:created>
  <dcterms:modified xsi:type="dcterms:W3CDTF">2026-10-27T16:55:45Z</dcterms:modified>
  <cp:category/>
</cp:coreProperties>
</file>